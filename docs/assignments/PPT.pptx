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10E164E-00C6-BA7A-2F4E-A26A39D02FA3}">
          <p14:sldIdLst>
            <p14:sldId id="256"/>
          </p14:sldIdLst>
        </p14:section>
        <p14:section name="Problem Sign Language Landscape &amp; Linguistic Research" id="{7547A4C0-6186-C550-8DF3-A5BD52DA4422}">
          <p14:sldIdLst>
            <p14:sldId id="257"/>
          </p14:sldIdLst>
        </p14:section>
        <p14:section name="Problem The Core Problem: A Verified Technological Void" id="{F927075A-DF89-EC22-21CA-BCC600576419}">
          <p14:sldIdLst>
            <p14:sldId id="258"/>
          </p14:sldIdLst>
        </p14:section>
        <p14:section name="Solution Our Solution: WBSL Bridge" id="{5600C4A1-6720-2F9E-A662-4C3D3D39A455}">
          <p14:sldIdLst>
            <p14:sldId id="259"/>
          </p14:sldIdLst>
        </p14:section>
        <p14:section name="Solution System Architecture: The Pipeline" id="{A2DF40A0-C549-92A4-46DA-E2141F8630F7}">
          <p14:sldIdLst>
            <p14:sldId id="260"/>
          </p14:sldIdLst>
        </p14:section>
        <p14:section name="Progress Current Implementation Status" id="{361A15A1-041A-4CBB-5C29-16BA8594365B}">
          <p14:sldIdLst>
            <p14:sldId id="261"/>
          </p14:sldIdLst>
        </p14:section>
        <p14:section name="Progress Roadmap &amp; Active Progress Highlights" id="{F70BF33D-A1F5-E69F-5822-4B550A25DAF1}">
          <p14:sldIdLst>
            <p14:sldId id="262"/>
          </p14:sldIdLst>
        </p14:section>
        <p14:section name="Close Key Innovations" id="{CC1B4156-F365-0EE7-199D-52DB7D52C4FF}">
          <p14:sldIdLst>
            <p14:sldId id="263"/>
          </p14:sldIdLst>
        </p14:section>
        <p14:section name="Conclusion" id="{E6DDBD3C-5EA9-B8C3-52C2-6DABEC1A2A78}">
          <p14:sldIdLst>
            <p14:sldId id="264"/>
          </p14:sldIdLst>
        </p14:section>
        <p14:section name="Thank You" id="{F838BF3A-5714-50AA-BA4C-92342A66A6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01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73152" cy="42062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0B2E5C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WBSL Bridge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728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Bidirectional Sign Language Communication for the Deaf Community of West Bengal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 Ali Mondal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34900123032 · 7th Sem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Koushaki Singha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34900124074 · 7th Sem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38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Monirul Halder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34900123021 · 7th Sem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538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Firdos Shaikh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34900123011 · 7th Sem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493776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97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Prof. Prabir Kr. Naskar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Engineering, Cooch Behar Government Engineering College</a:t>
            </a:r>
            <a:endParaRPr lang="en-US" sz="1100" dirty="0"/>
          </a:p>
        </p:txBody>
      </p:sp>
      <p:pic>
        <p:nvPicPr>
          <p:cNvPr id="12" name="Image 0" descr="WBSL Brid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716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Sign Language Landscape &amp; Linguistic Research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87452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79192" y="1161288"/>
            <a:ext cx="1874520" cy="914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55464" y="1161288"/>
            <a:ext cx="187452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31736" y="1161288"/>
            <a:ext cx="1874520" cy="914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HIGH-RESOURCE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ZERO-RESOURCE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</a:t>
            </a:r>
            <a:endParaRPr lang="en-US" sz="2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Sign Language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High-resource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803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DeepMind’s SL2T (2026) proved real-time translation using </a:t>
            </a: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hours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79192" y="160020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16352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BdSL</a:t>
            </a:r>
            <a:endParaRPr lang="en-US" sz="2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Sign Language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816352" y="2514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Medium-resource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28803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large datasets (BdSLW401, BdSLW60).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note: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“Bengali” tech projects target BdSL, a linguistically separate language.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55464" y="160020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55464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92624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</a:t>
            </a:r>
            <a:endParaRPr lang="en-US" sz="2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Indian Sign Language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992624" y="2514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92624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focus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992624" y="28803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iSign benchmark (ACL 2024) and ISLTranslate datasets.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31736" y="160020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FF8E5"/>
          </a:solidFill>
          <a:ln w="12700">
            <a:solidFill>
              <a:srgbClr val="F2A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31736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68896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WBSL</a:t>
            </a:r>
            <a:endParaRPr lang="en-US" sz="2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Sign Language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68896" y="2514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68896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Zero-resource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28803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Linguistically proven distinct from both Delhi ISL and BdSL (Johnson &amp; Johnson, 2016).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iSign (2024) confirms high regional variation in the East.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AI projects · 170 static signs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The Core Problem: A Verified Technological Void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64008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projects specifically for WBSL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371600"/>
            <a:ext cx="64008" cy="10515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280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video datasets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371600"/>
            <a:ext cx="64008" cy="10515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568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Video/action documented, not dataset.(Wikisigns)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3F7FB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Distinction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WBSL  ≠  Delhi ISL  ≠  BdSL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49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Sign Language is scientifically proven to be distinct from Delhi ISL and Bangladesh BdSL.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F3F7FB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8348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 in Current Systems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2735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tech translates word-by-word and ignores facial expressions (Non-Manual Markers), which completely changes the meaning.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4206240"/>
            <a:ext cx="33832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vs. Question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Our Solution: WBSL Bridge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2286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Translation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Hand Signs + Non-Manual Markers (Grammar) + Emotion (Tone) to translate the </a:t>
            </a: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intention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words.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34440"/>
            <a:ext cx="228600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286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Communication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→ Bengali Text &amp; Speech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Text/Voice → Sign Video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34440"/>
            <a:ext cx="22860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554480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286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Accessibility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CPU (no cloud dependency) and complies with the DPDP Act 2023 by processing only geometric landmarks.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System Architecture: The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Input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Holistic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landmarks @ 30 FPS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14016" y="2743200"/>
            <a:ext cx="2286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9192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79192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01168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Geometry-based NMM detection (&lt;5 ms latency)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ViT-ONNX emotion classifier, robust to glasses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0288" y="2743200"/>
            <a:ext cx="2286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55464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55464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55464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Brain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92624" y="201168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LLM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gemma-4-E4B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a 50-criteria semantic prompt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743200"/>
            <a:ext cx="2286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36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31736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31736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68896" y="2011680"/>
            <a:ext cx="1600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Bengali Text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TTS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with BanglaTTS fallback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Current Implementation Status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307592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Stream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1887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landmarks extracted at stable 30 FPS.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002536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002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836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&amp; NMM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88366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ViT-ONNX (glasses-robust) and 5 geometric NMM markers live.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697480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578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Recognition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57860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126-dim MLP achieving </a:t>
            </a: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validation accuracy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392424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73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NLG &amp; TTS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735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benchmarked; gemma-4-E4B selected and stress-tested.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96849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8E5"/>
          </a:solidFill>
          <a:ln w="12700">
            <a:solidFill>
              <a:srgbClr val="F2A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087368"/>
            <a:ext cx="329184" cy="32918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968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Action Recognition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9684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designed; LSTM video training is </a:t>
            </a: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half-done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Roadmap &amp; Active Progress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16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Action Recognition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904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LSTM training on continuous video sequences for dynamic signs (currently half-done).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6DC"/>
          </a:solidFill>
          <a:ln w="12700">
            <a:solidFill>
              <a:srgbClr val="F2A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2996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WBSL Data Creation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240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WBSL data collector tool is being prepared to build the first continuous WBSL dataset.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984248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984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PROGRESS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6DC"/>
          </a:solidFill>
          <a:ln w="12700">
            <a:solidFill>
              <a:srgbClr val="F2A9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797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715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9900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WBSL field verification questions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prepared and structured for real-world community data collection.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734056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273405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PROGRESS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529584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465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Sign Handling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739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implementing the “Honesty Layer” to detect unknown signs and prevent AI hallucination.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4223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27939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215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Workable UI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4897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documenting, Sign-to-Voice and Voice-to-Sign on a single, high-speed interface.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5C"/>
                </a:solidFill>
              </a:rPr>
              <a:t>Key Innovations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88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Open-Set “Honesty Layer”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Sign Handling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vocabulary mismatch before the LLM processes it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“confident hallucination”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tentative meanings with a “সম্ভবত” (probably) marker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Community Growth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dataset growth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only landmark data (no raw video)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provide evidence; human reviewers make the final decision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dataset growth without compromising privacy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BSL Brid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9629"/>
            <a:ext cx="2954215" cy="22156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0" y="1371600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343400" y="1371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dedicated AI framework for the West Bengal Deaf community.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0" y="2468880"/>
            <a:ext cx="64008" cy="7315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43400" y="2468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Words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literal translation to true, intent-aware communication.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0" y="3566160"/>
            <a:ext cx="64008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4340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Ethical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low-resource environments, budget devices, and strict data privacy.</a:t>
            </a:r>
            <a:endParaRPr lang="en-US" sz="15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EA9004F-FB55-E342-EC94-0E95872EEA97}"/>
              </a:ext>
            </a:extLst>
          </p:cNvPr>
          <p:cNvSpPr txBox="1"/>
          <p:nvPr/>
        </p:nvSpPr>
        <p:spPr>
          <a:xfrm>
            <a:off x="4146804" y="4438004"/>
            <a:ext cx="3094892" cy="27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6F2E2B7-DB40-1194-48E1-4CB8B616D132}"/>
              </a:ext>
            </a:extLst>
          </p:cNvPr>
          <p:cNvSpPr txBox="1"/>
          <p:nvPr/>
        </p:nvSpPr>
        <p:spPr>
          <a:xfrm>
            <a:off x="548640" y="3566160"/>
            <a:ext cx="295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BSL Bridge">
  <a:themeElements>
    <a:clrScheme name="WBSL Bridge">
      <a:dk1>
        <a:srgbClr val="1F2937"/>
      </a:dk1>
      <a:lt1>
        <a:srgbClr val="FFFFFF"/>
      </a:lt1>
      <a:dk2>
        <a:srgbClr val="0B2E5C"/>
      </a:dk2>
      <a:lt2>
        <a:srgbClr val="F3F7FB"/>
      </a:lt2>
      <a:accent1>
        <a:srgbClr val="1565C0"/>
      </a:accent1>
      <a:accent2>
        <a:srgbClr val="0E9F8E"/>
      </a:accent2>
      <a:accent3>
        <a:srgbClr val="4CAF50"/>
      </a:accent3>
      <a:accent4>
        <a:srgbClr val="F2A900"/>
      </a:accent4>
      <a:accent5>
        <a:srgbClr val="00A3E0"/>
      </a:accent5>
      <a:accent6>
        <a:srgbClr val="6B7280"/>
      </a:accent6>
      <a:hlink>
        <a:srgbClr val="1565C0"/>
      </a:hlink>
      <a:folHlink>
        <a:srgbClr val="0E9F8E"/>
      </a:folHlink>
    </a:clrScheme>
    <a:fontScheme name="WBSL Brid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714</Words>
  <Application>Microsoft Office PowerPoint</Application>
  <PresentationFormat>On-screen Show (16:9)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WBSL Bridge</vt:lpstr>
      <vt:lpstr>PowerPoint Presentation</vt:lpstr>
      <vt:lpstr>Sign Language Landscape &amp; Linguistic Research</vt:lpstr>
      <vt:lpstr>The Core Problem: A Verified Technological Void</vt:lpstr>
      <vt:lpstr>Our Solution: WBSL Bridge</vt:lpstr>
      <vt:lpstr>System Architecture: The Pipeline</vt:lpstr>
      <vt:lpstr>Current Implementation Status</vt:lpstr>
      <vt:lpstr>Roadmap &amp; Active Progress Highlights</vt:lpstr>
      <vt:lpstr>Key Innovations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WBSL Bridge</dc:title>
  <dc:subject>PptxGenJS Presentation</dc:subject>
  <dc:creator>WBSL Bridge Team</dc:creator>
  <cp:lastModifiedBy>sabir ali mondal</cp:lastModifiedBy>
  <cp:revision>3</cp:revision>
  <dcterms:created xsi:type="dcterms:W3CDTF">2026-10-03T15:45:00Z</dcterms:created>
  <dcterms:modified xsi:type="dcterms:W3CDTF">2026-10-05T03:13:20Z</dcterms:modified>
</cp:coreProperties>
</file>